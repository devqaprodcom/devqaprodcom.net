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2" r:id="rId3"/>
    <p:sldId id="259" r:id="rId4"/>
    <p:sldId id="263" r:id="rId5"/>
    <p:sldId id="265" r:id="rId6"/>
    <p:sldId id="261" r:id="rId7"/>
    <p:sldId id="264" r:id="rId8"/>
    <p:sldId id="266" r:id="rId9"/>
    <p:sldId id="267" r:id="rId10"/>
    <p:sldId id="271" r:id="rId11"/>
    <p:sldId id="272" r:id="rId12"/>
    <p:sldId id="273" r:id="rId13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5B0C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aximized">
    <p:restoredLeft sz="34587" autoAdjust="0"/>
    <p:restoredTop sz="94664" autoAdjust="0"/>
  </p:normalViewPr>
  <p:slideViewPr>
    <p:cSldViewPr>
      <p:cViewPr varScale="1">
        <p:scale>
          <a:sx n="109" d="100"/>
          <a:sy n="109" d="100"/>
        </p:scale>
        <p:origin x="-1674" y="-8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01.02.2025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01.02.2025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01.02.2025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01.02.2025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01.02.2025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01.02.2025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01.02.2025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01.02.2025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01.02.2025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01.02.2025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01.02.2025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106E36-FD25-4E2D-B0AA-010F637433A0}" type="datetimeFigureOut">
              <a:rPr lang="ru-RU" smtClean="0"/>
              <a:pPr/>
              <a:t>01.02.2025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0" name="Picture 6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148064" y="1988840"/>
            <a:ext cx="2306588" cy="7355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31" name="Picture 7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331640" y="2132856"/>
            <a:ext cx="2149974" cy="51775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08" name="TextBox 107"/>
          <p:cNvSpPr txBox="1"/>
          <p:nvPr/>
        </p:nvSpPr>
        <p:spPr>
          <a:xfrm>
            <a:off x="2123728" y="1700808"/>
            <a:ext cx="525658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>
                <a:ln w="900" cmpd="sng">
                  <a:solidFill>
                    <a:schemeClr val="tx2">
                      <a:lumMod val="75000"/>
                      <a:alpha val="55000"/>
                    </a:schemeClr>
                  </a:solidFill>
                  <a:prstDash val="solid"/>
                </a:ln>
                <a:solidFill>
                  <a:schemeClr val="accent1">
                    <a:satMod val="200000"/>
                    <a:tint val="3000"/>
                  </a:schemeClr>
                </a:solidFill>
                <a:effectLst>
                  <a:innerShdw blurRad="101600" dist="76200" dir="5400000">
                    <a:schemeClr val="accent1">
                      <a:satMod val="190000"/>
                      <a:tint val="100000"/>
                      <a:alpha val="74000"/>
                    </a:schemeClr>
                  </a:innerShdw>
                </a:effectLst>
              </a:rPr>
              <a:t>SAME CODEBASE </a:t>
            </a:r>
            <a:r>
              <a:rPr lang="ru-RU" sz="2000" b="1" dirty="0" smtClean="0">
                <a:ln w="900" cmpd="sng">
                  <a:solidFill>
                    <a:schemeClr val="tx2">
                      <a:lumMod val="75000"/>
                      <a:alpha val="55000"/>
                    </a:schemeClr>
                  </a:solidFill>
                  <a:prstDash val="solid"/>
                </a:ln>
                <a:solidFill>
                  <a:schemeClr val="accent1">
                    <a:satMod val="200000"/>
                    <a:tint val="3000"/>
                  </a:schemeClr>
                </a:solidFill>
                <a:effectLst>
                  <a:innerShdw blurRad="101600" dist="76200" dir="5400000">
                    <a:schemeClr val="accent1">
                      <a:satMod val="190000"/>
                      <a:tint val="100000"/>
                      <a:alpha val="74000"/>
                    </a:schemeClr>
                  </a:innerShdw>
                </a:effectLst>
              </a:rPr>
              <a:t> - </a:t>
            </a:r>
            <a:r>
              <a:rPr lang="en-US" sz="2000" b="1" dirty="0" smtClean="0">
                <a:ln w="900" cmpd="sng">
                  <a:solidFill>
                    <a:schemeClr val="tx2">
                      <a:lumMod val="75000"/>
                      <a:alpha val="55000"/>
                    </a:schemeClr>
                  </a:solidFill>
                  <a:prstDash val="solid"/>
                </a:ln>
                <a:solidFill>
                  <a:schemeClr val="accent1">
                    <a:satMod val="200000"/>
                    <a:tint val="3000"/>
                  </a:schemeClr>
                </a:solidFill>
                <a:effectLst>
                  <a:innerShdw blurRad="101600" dist="76200" dir="5400000">
                    <a:schemeClr val="accent1">
                      <a:satMod val="190000"/>
                      <a:tint val="100000"/>
                      <a:alpha val="74000"/>
                    </a:schemeClr>
                  </a:innerShdw>
                </a:effectLst>
              </a:rPr>
              <a:t>DIFFERENT TECHNOLOGIES</a:t>
            </a:r>
            <a:endParaRPr lang="ru-RU" sz="2000" b="1" dirty="0" smtClean="0">
              <a:ln w="900" cmpd="sng">
                <a:solidFill>
                  <a:schemeClr val="tx2">
                    <a:lumMod val="75000"/>
                    <a:alpha val="55000"/>
                  </a:schemeClr>
                </a:solidFill>
                <a:prstDash val="solid"/>
              </a:ln>
              <a:solidFill>
                <a:schemeClr val="accent1">
                  <a:satMod val="200000"/>
                  <a:tint val="3000"/>
                </a:schemeClr>
              </a:solidFill>
              <a:effectLst>
                <a:innerShdw blurRad="101600" dist="76200" dir="5400000">
                  <a:schemeClr val="accent1">
                    <a:satMod val="190000"/>
                    <a:tint val="100000"/>
                    <a:alpha val="74000"/>
                  </a:schemeClr>
                </a:innerShdw>
              </a:effectLst>
            </a:endParaRPr>
          </a:p>
        </p:txBody>
      </p:sp>
      <p:sp>
        <p:nvSpPr>
          <p:cNvPr id="109" name="TextBox 108"/>
          <p:cNvSpPr txBox="1"/>
          <p:nvPr/>
        </p:nvSpPr>
        <p:spPr>
          <a:xfrm>
            <a:off x="251520" y="692696"/>
            <a:ext cx="8474179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5000" b="1" dirty="0" smtClean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</a:rPr>
              <a:t>UI Test Automation Framework</a:t>
            </a:r>
            <a:endParaRPr lang="ru-RU" sz="5000" b="1" dirty="0">
              <a:ln w="10541" cmpd="sng">
                <a:solidFill>
                  <a:schemeClr val="accent1">
                    <a:shade val="88000"/>
                    <a:satMod val="110000"/>
                  </a:schemeClr>
                </a:solidFill>
                <a:prstDash val="solid"/>
              </a:ln>
              <a:gradFill>
                <a:gsLst>
                  <a:gs pos="0">
                    <a:schemeClr val="accent1">
                      <a:tint val="40000"/>
                      <a:satMod val="250000"/>
                    </a:schemeClr>
                  </a:gs>
                  <a:gs pos="9000">
                    <a:schemeClr val="accent1">
                      <a:tint val="52000"/>
                      <a:satMod val="300000"/>
                    </a:schemeClr>
                  </a:gs>
                  <a:gs pos="50000">
                    <a:schemeClr val="accent1">
                      <a:shade val="20000"/>
                      <a:satMod val="300000"/>
                    </a:schemeClr>
                  </a:gs>
                  <a:gs pos="79000">
                    <a:schemeClr val="accent1">
                      <a:tint val="52000"/>
                      <a:satMod val="300000"/>
                    </a:schemeClr>
                  </a:gs>
                  <a:gs pos="100000">
                    <a:schemeClr val="accent1">
                      <a:tint val="40000"/>
                      <a:satMod val="250000"/>
                    </a:schemeClr>
                  </a:gs>
                </a:gsLst>
                <a:lin ang="5400000"/>
              </a:gradFill>
            </a:endParaRPr>
          </a:p>
        </p:txBody>
      </p:sp>
      <p:pic>
        <p:nvPicPr>
          <p:cNvPr id="1033" name="Picture 9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403648" y="3140968"/>
            <a:ext cx="6868170" cy="35874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10" name="TextBox 109"/>
          <p:cNvSpPr txBox="1"/>
          <p:nvPr/>
        </p:nvSpPr>
        <p:spPr>
          <a:xfrm>
            <a:off x="2411760" y="2708920"/>
            <a:ext cx="468052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>
                <a:ln w="900" cmpd="sng">
                  <a:solidFill>
                    <a:schemeClr val="tx2">
                      <a:lumMod val="75000"/>
                      <a:alpha val="55000"/>
                    </a:schemeClr>
                  </a:solidFill>
                  <a:prstDash val="solid"/>
                </a:ln>
                <a:solidFill>
                  <a:schemeClr val="accent1">
                    <a:satMod val="200000"/>
                    <a:tint val="3000"/>
                  </a:schemeClr>
                </a:solidFill>
                <a:effectLst>
                  <a:innerShdw blurRad="101600" dist="76200" dir="5400000">
                    <a:schemeClr val="accent1">
                      <a:satMod val="190000"/>
                      <a:tint val="100000"/>
                      <a:alpha val="74000"/>
                    </a:schemeClr>
                  </a:innerShdw>
                </a:effectLst>
              </a:rPr>
              <a:t>SIMILAR GENERAL CONCEPT: TERRAFORM</a:t>
            </a:r>
            <a:endParaRPr lang="ru-RU" sz="2000" b="1" dirty="0" smtClean="0">
              <a:ln w="900" cmpd="sng">
                <a:solidFill>
                  <a:schemeClr val="tx2">
                    <a:lumMod val="75000"/>
                    <a:alpha val="55000"/>
                  </a:schemeClr>
                </a:solidFill>
                <a:prstDash val="solid"/>
              </a:ln>
              <a:solidFill>
                <a:schemeClr val="accent1">
                  <a:satMod val="200000"/>
                  <a:tint val="3000"/>
                </a:schemeClr>
              </a:solidFill>
              <a:effectLst>
                <a:innerShdw blurRad="101600" dist="76200" dir="5400000">
                  <a:schemeClr val="accent1">
                    <a:satMod val="190000"/>
                    <a:tint val="100000"/>
                    <a:alpha val="74000"/>
                  </a:schemeClr>
                </a:innerShdw>
              </a:effectLst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971600" y="404664"/>
            <a:ext cx="7200800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 smtClean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</a:rPr>
              <a:t>CONFIGURE/SWITCH TECHNOLOGIES </a:t>
            </a:r>
          </a:p>
          <a:p>
            <a:pPr algn="ctr"/>
            <a:r>
              <a:rPr lang="en-US" b="1" dirty="0" smtClean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</a:rPr>
              <a:t> USING DEPENDENCY INJECTION</a:t>
            </a:r>
            <a:endParaRPr lang="ru-RU" b="1" dirty="0">
              <a:ln w="10541" cmpd="sng">
                <a:solidFill>
                  <a:schemeClr val="accent1">
                    <a:shade val="88000"/>
                    <a:satMod val="110000"/>
                  </a:schemeClr>
                </a:solidFill>
                <a:prstDash val="solid"/>
              </a:ln>
              <a:gradFill>
                <a:gsLst>
                  <a:gs pos="0">
                    <a:schemeClr val="accent1">
                      <a:tint val="40000"/>
                      <a:satMod val="250000"/>
                    </a:schemeClr>
                  </a:gs>
                  <a:gs pos="9000">
                    <a:schemeClr val="accent1">
                      <a:tint val="52000"/>
                      <a:satMod val="300000"/>
                    </a:schemeClr>
                  </a:gs>
                  <a:gs pos="50000">
                    <a:schemeClr val="accent1">
                      <a:shade val="20000"/>
                      <a:satMod val="300000"/>
                    </a:schemeClr>
                  </a:gs>
                  <a:gs pos="79000">
                    <a:schemeClr val="accent1">
                      <a:tint val="52000"/>
                      <a:satMod val="300000"/>
                    </a:schemeClr>
                  </a:gs>
                  <a:gs pos="100000">
                    <a:schemeClr val="accent1">
                      <a:tint val="40000"/>
                      <a:satMod val="250000"/>
                    </a:schemeClr>
                  </a:gs>
                </a:gsLst>
                <a:lin ang="5400000"/>
              </a:gradFill>
            </a:endParaRPr>
          </a:p>
        </p:txBody>
      </p:sp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07504" y="1484784"/>
            <a:ext cx="8920335" cy="403632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Багетная рамка 24"/>
          <p:cNvSpPr/>
          <p:nvPr/>
        </p:nvSpPr>
        <p:spPr>
          <a:xfrm>
            <a:off x="0" y="5013176"/>
            <a:ext cx="2267744" cy="576064"/>
          </a:xfrm>
          <a:prstGeom prst="bevel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 smtClean="0"/>
          </a:p>
          <a:p>
            <a:pPr algn="ctr"/>
            <a:endParaRPr lang="en-US" sz="1400" dirty="0" smtClean="0"/>
          </a:p>
          <a:p>
            <a:pPr algn="ctr"/>
            <a:r>
              <a:rPr lang="en-US" sz="1400" b="1" i="1" dirty="0" err="1" smtClean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</a:rPr>
              <a:t>Single</a:t>
            </a:r>
            <a:r>
              <a:rPr lang="en-US" sz="1400" i="1" dirty="0" err="1" smtClean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rPr>
              <a:t>UiPageService</a:t>
            </a:r>
            <a:endParaRPr lang="en-US" sz="1400" i="1" dirty="0" smtClean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</a:endParaRPr>
          </a:p>
          <a:p>
            <a:pPr algn="ctr"/>
            <a:r>
              <a:rPr lang="en-US" sz="1200" dirty="0" smtClean="0">
                <a:solidFill>
                  <a:schemeClr val="bg1"/>
                </a:solidFill>
              </a:rPr>
              <a:t>(Login Page Service)</a:t>
            </a:r>
            <a:endParaRPr lang="ru-RU" sz="1200" dirty="0" smtClean="0">
              <a:solidFill>
                <a:schemeClr val="bg1"/>
              </a:solidFill>
            </a:endParaRPr>
          </a:p>
          <a:p>
            <a:pPr algn="ctr"/>
            <a:endParaRPr lang="ru-RU" sz="1500" dirty="0" smtClean="0"/>
          </a:p>
          <a:p>
            <a:pPr algn="ctr"/>
            <a:endParaRPr lang="ru-RU" dirty="0"/>
          </a:p>
        </p:txBody>
      </p:sp>
      <p:sp>
        <p:nvSpPr>
          <p:cNvPr id="26" name="Скругленный прямоугольник 25"/>
          <p:cNvSpPr/>
          <p:nvPr/>
        </p:nvSpPr>
        <p:spPr>
          <a:xfrm>
            <a:off x="107504" y="2564904"/>
            <a:ext cx="2088232" cy="504056"/>
          </a:xfrm>
          <a:prstGeom prst="roundRect">
            <a:avLst/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bg1">
                <a:lumMod val="85000"/>
              </a:schemeClr>
            </a:solidFill>
          </a:ln>
          <a:effectLst>
            <a:glow rad="101600">
              <a:schemeClr val="bg1">
                <a:lumMod val="50000"/>
                <a:alpha val="40000"/>
              </a:schemeClr>
            </a:glow>
          </a:effectLst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 err="1" smtClean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rPr>
              <a:t>UiInteractorTab</a:t>
            </a:r>
            <a:endParaRPr lang="en-US" sz="1600" dirty="0" smtClean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</a:endParaRPr>
          </a:p>
          <a:p>
            <a:pPr algn="ctr"/>
            <a:r>
              <a:rPr lang="en-US" sz="1600" dirty="0" smtClean="0"/>
              <a:t>(</a:t>
            </a:r>
            <a:r>
              <a:rPr lang="en-US" sz="1600" dirty="0" err="1" smtClean="0"/>
              <a:t>DefaultTab</a:t>
            </a:r>
            <a:r>
              <a:rPr lang="en-US" sz="1600" dirty="0" smtClean="0"/>
              <a:t>)</a:t>
            </a:r>
            <a:endParaRPr lang="ru-RU" sz="1600" dirty="0"/>
          </a:p>
        </p:txBody>
      </p:sp>
      <p:sp>
        <p:nvSpPr>
          <p:cNvPr id="28" name="Вертикальный свиток 27"/>
          <p:cNvSpPr/>
          <p:nvPr/>
        </p:nvSpPr>
        <p:spPr>
          <a:xfrm>
            <a:off x="107504" y="3465875"/>
            <a:ext cx="1872208" cy="864096"/>
          </a:xfrm>
          <a:prstGeom prst="verticalScroll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" b="1" dirty="0" err="1" smtClean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</a:rPr>
              <a:t>UiPage</a:t>
            </a:r>
            <a:r>
              <a:rPr lang="en-US" sz="1500" dirty="0" smtClean="0"/>
              <a:t/>
            </a:r>
            <a:br>
              <a:rPr lang="en-US" sz="1500" dirty="0" smtClean="0"/>
            </a:br>
            <a:r>
              <a:rPr lang="en-US" sz="1500" dirty="0" smtClean="0"/>
              <a:t>(Login Page)</a:t>
            </a:r>
            <a:endParaRPr lang="ru-RU" sz="1500" dirty="0"/>
          </a:p>
        </p:txBody>
      </p:sp>
      <p:sp>
        <p:nvSpPr>
          <p:cNvPr id="29" name="Блок-схема: несколько документов 28"/>
          <p:cNvSpPr/>
          <p:nvPr/>
        </p:nvSpPr>
        <p:spPr>
          <a:xfrm>
            <a:off x="1547664" y="1196752"/>
            <a:ext cx="1763688" cy="648072"/>
          </a:xfrm>
          <a:prstGeom prst="flowChartMultidocumen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 smtClean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rPr>
              <a:t>UiInteractor</a:t>
            </a:r>
            <a:endParaRPr lang="ru-RU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</a:endParaRPr>
          </a:p>
        </p:txBody>
      </p:sp>
      <p:sp>
        <p:nvSpPr>
          <p:cNvPr id="31" name="Выноска со стрелкой вниз 30"/>
          <p:cNvSpPr/>
          <p:nvPr/>
        </p:nvSpPr>
        <p:spPr>
          <a:xfrm>
            <a:off x="2771800" y="0"/>
            <a:ext cx="2520280" cy="908720"/>
          </a:xfrm>
          <a:prstGeom prst="downArrowCallout">
            <a:avLst/>
          </a:prstGeom>
          <a:scene3d>
            <a:camera prst="orthographicFront"/>
            <a:lightRig rig="threePt" dir="t"/>
          </a:scene3d>
          <a:sp3d>
            <a:bevelT prst="relaxedInset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 smtClean="0"/>
              <a:t>UiInteractorsManager</a:t>
            </a:r>
            <a:endParaRPr lang="ru-RU" dirty="0" smtClean="0"/>
          </a:p>
        </p:txBody>
      </p:sp>
      <p:sp>
        <p:nvSpPr>
          <p:cNvPr id="33" name="Блок-схема: несколько документов 32"/>
          <p:cNvSpPr/>
          <p:nvPr/>
        </p:nvSpPr>
        <p:spPr>
          <a:xfrm>
            <a:off x="5148064" y="1196752"/>
            <a:ext cx="1763688" cy="648072"/>
          </a:xfrm>
          <a:prstGeom prst="flowChartMultidocumen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 smtClean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rPr>
              <a:t>UiInteractor</a:t>
            </a:r>
            <a:endParaRPr lang="ru-RU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</a:endParaRPr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195736" y="692696"/>
            <a:ext cx="459494" cy="46374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670467" y="692696"/>
            <a:ext cx="433175" cy="43204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" name="Picture 4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5479959" y="2636912"/>
            <a:ext cx="3664041" cy="2880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2771800" y="692696"/>
            <a:ext cx="444747" cy="44698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6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817349" y="692696"/>
            <a:ext cx="459494" cy="46374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7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292080" y="692696"/>
            <a:ext cx="433175" cy="43204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8" name="Picture 5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6393413" y="692696"/>
            <a:ext cx="444747" cy="44698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40" name="Скругленный прямоугольник 39"/>
          <p:cNvSpPr/>
          <p:nvPr/>
        </p:nvSpPr>
        <p:spPr>
          <a:xfrm>
            <a:off x="3419872" y="2564904"/>
            <a:ext cx="1944216" cy="504056"/>
          </a:xfrm>
          <a:prstGeom prst="roundRect">
            <a:avLst/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bg1">
                <a:lumMod val="85000"/>
              </a:schemeClr>
            </a:solidFill>
          </a:ln>
          <a:effectLst>
            <a:glow rad="101600">
              <a:schemeClr val="tx1">
                <a:lumMod val="65000"/>
                <a:lumOff val="35000"/>
                <a:alpha val="40000"/>
              </a:schemeClr>
            </a:glow>
          </a:effectLst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 err="1" smtClean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rPr>
              <a:t>UiInteractorTab</a:t>
            </a:r>
            <a:endParaRPr lang="en-US" sz="1600" dirty="0" smtClean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</a:endParaRPr>
          </a:p>
          <a:p>
            <a:pPr algn="ctr"/>
            <a:r>
              <a:rPr lang="en-US" sz="1600" dirty="0" smtClean="0"/>
              <a:t>(Tab2, Tab3, Tab4 …)</a:t>
            </a:r>
            <a:endParaRPr lang="ru-RU" sz="1600" dirty="0" smtClean="0"/>
          </a:p>
        </p:txBody>
      </p:sp>
      <p:sp>
        <p:nvSpPr>
          <p:cNvPr id="41" name="Двойная стрелка влево/вправо 40"/>
          <p:cNvSpPr/>
          <p:nvPr/>
        </p:nvSpPr>
        <p:spPr>
          <a:xfrm>
            <a:off x="2339752" y="2708920"/>
            <a:ext cx="936104" cy="216024"/>
          </a:xfrm>
          <a:prstGeom prst="left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43" name="Прямая со стрелкой 42"/>
          <p:cNvCxnSpPr>
            <a:stCxn id="29" idx="2"/>
          </p:cNvCxnSpPr>
          <p:nvPr/>
        </p:nvCxnSpPr>
        <p:spPr>
          <a:xfrm flipH="1">
            <a:off x="1547664" y="1820281"/>
            <a:ext cx="759202" cy="67261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Прямая со стрелкой 47"/>
          <p:cNvCxnSpPr/>
          <p:nvPr/>
        </p:nvCxnSpPr>
        <p:spPr>
          <a:xfrm>
            <a:off x="2483768" y="1844824"/>
            <a:ext cx="1728192" cy="57606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Прямая со стрелкой 54"/>
          <p:cNvCxnSpPr>
            <a:stCxn id="33" idx="2"/>
          </p:cNvCxnSpPr>
          <p:nvPr/>
        </p:nvCxnSpPr>
        <p:spPr>
          <a:xfrm>
            <a:off x="5907266" y="1820281"/>
            <a:ext cx="176902" cy="744623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Прямая со стрелкой 56"/>
          <p:cNvCxnSpPr>
            <a:stCxn id="33" idx="2"/>
          </p:cNvCxnSpPr>
          <p:nvPr/>
        </p:nvCxnSpPr>
        <p:spPr>
          <a:xfrm>
            <a:off x="5907266" y="1820281"/>
            <a:ext cx="1473046" cy="744623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TextBox 64"/>
          <p:cNvSpPr txBox="1"/>
          <p:nvPr/>
        </p:nvSpPr>
        <p:spPr>
          <a:xfrm>
            <a:off x="2267744" y="2420888"/>
            <a:ext cx="1152128" cy="246221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flat" dir="t">
                <a:rot lat="0" lon="0" rev="18900000"/>
              </a:lightRig>
            </a:scene3d>
            <a:sp3d extrusionH="31750" contourW="6350" prstMaterial="powder">
              <a:bevelT w="19050" h="19050" prst="angle"/>
              <a:contourClr>
                <a:schemeClr val="accent3">
                  <a:tint val="100000"/>
                  <a:shade val="100000"/>
                  <a:satMod val="100000"/>
                  <a:hueMod val="100000"/>
                </a:schemeClr>
              </a:contourClr>
            </a:sp3d>
          </a:bodyPr>
          <a:lstStyle/>
          <a:p>
            <a:r>
              <a:rPr lang="en-US" sz="1000" b="1" dirty="0" smtClean="0">
                <a:ln/>
                <a:solidFill>
                  <a:schemeClr val="accent3"/>
                </a:solidFill>
              </a:rPr>
              <a:t>AUTO SWITCHING</a:t>
            </a:r>
            <a:endParaRPr lang="ru-RU" sz="1000" b="1" dirty="0">
              <a:ln/>
              <a:solidFill>
                <a:schemeClr val="accent3"/>
              </a:solidFill>
            </a:endParaRPr>
          </a:p>
        </p:txBody>
      </p:sp>
      <p:sp>
        <p:nvSpPr>
          <p:cNvPr id="66" name="Багетная рамка 65"/>
          <p:cNvSpPr/>
          <p:nvPr/>
        </p:nvSpPr>
        <p:spPr>
          <a:xfrm>
            <a:off x="2339752" y="5013176"/>
            <a:ext cx="2267744" cy="576064"/>
          </a:xfrm>
          <a:prstGeom prst="bevel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 smtClean="0"/>
          </a:p>
          <a:p>
            <a:pPr algn="ctr"/>
            <a:endParaRPr lang="en-US" sz="1400" dirty="0" smtClean="0"/>
          </a:p>
          <a:p>
            <a:pPr algn="ctr"/>
            <a:r>
              <a:rPr lang="en-US" sz="1400" b="1" i="1" dirty="0" err="1" smtClean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</a:rPr>
              <a:t>Single</a:t>
            </a:r>
            <a:r>
              <a:rPr lang="en-US" sz="1400" i="1" dirty="0" err="1" smtClean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rPr>
              <a:t>UiPageService</a:t>
            </a:r>
            <a:endParaRPr lang="en-US" sz="1400" i="1" dirty="0" smtClean="0"/>
          </a:p>
          <a:p>
            <a:pPr algn="ctr"/>
            <a:r>
              <a:rPr lang="en-US" sz="1200" dirty="0" smtClean="0">
                <a:solidFill>
                  <a:schemeClr val="bg1"/>
                </a:solidFill>
              </a:rPr>
              <a:t>(Home Page Service)</a:t>
            </a:r>
            <a:endParaRPr lang="ru-RU" sz="1200" dirty="0" smtClean="0">
              <a:solidFill>
                <a:schemeClr val="bg1"/>
              </a:solidFill>
            </a:endParaRPr>
          </a:p>
          <a:p>
            <a:pPr algn="ctr"/>
            <a:endParaRPr lang="ru-RU" sz="1500" dirty="0" smtClean="0"/>
          </a:p>
          <a:p>
            <a:pPr algn="ctr"/>
            <a:endParaRPr lang="ru-RU" dirty="0"/>
          </a:p>
        </p:txBody>
      </p:sp>
      <p:sp>
        <p:nvSpPr>
          <p:cNvPr id="67" name="Багетная рамка 66"/>
          <p:cNvSpPr/>
          <p:nvPr/>
        </p:nvSpPr>
        <p:spPr>
          <a:xfrm>
            <a:off x="4716016" y="5013176"/>
            <a:ext cx="2267744" cy="576064"/>
          </a:xfrm>
          <a:prstGeom prst="bevel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 smtClean="0"/>
          </a:p>
          <a:p>
            <a:pPr algn="ctr"/>
            <a:endParaRPr lang="en-US" sz="1400" dirty="0" smtClean="0"/>
          </a:p>
          <a:p>
            <a:pPr algn="ctr"/>
            <a:r>
              <a:rPr lang="en-US" sz="1400" b="1" i="1" dirty="0" err="1" smtClean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</a:rPr>
              <a:t>Single</a:t>
            </a:r>
            <a:r>
              <a:rPr lang="en-US" sz="1400" i="1" dirty="0" err="1" smtClean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rPr>
              <a:t>UiPageService</a:t>
            </a:r>
            <a:endParaRPr lang="en-US" sz="1400" i="1" dirty="0" smtClean="0"/>
          </a:p>
          <a:p>
            <a:pPr algn="ctr"/>
            <a:r>
              <a:rPr lang="en-US" sz="1200" dirty="0" smtClean="0">
                <a:solidFill>
                  <a:schemeClr val="bg1"/>
                </a:solidFill>
              </a:rPr>
              <a:t>(Users Page Service)</a:t>
            </a:r>
            <a:endParaRPr lang="ru-RU" sz="1200" dirty="0" smtClean="0">
              <a:solidFill>
                <a:schemeClr val="bg1"/>
              </a:solidFill>
            </a:endParaRPr>
          </a:p>
          <a:p>
            <a:pPr algn="ctr"/>
            <a:endParaRPr lang="ru-RU" sz="1500" dirty="0" smtClean="0"/>
          </a:p>
          <a:p>
            <a:pPr algn="ctr"/>
            <a:endParaRPr lang="ru-RU" dirty="0"/>
          </a:p>
        </p:txBody>
      </p:sp>
      <p:sp>
        <p:nvSpPr>
          <p:cNvPr id="68" name="Куб 67"/>
          <p:cNvSpPr/>
          <p:nvPr/>
        </p:nvSpPr>
        <p:spPr>
          <a:xfrm>
            <a:off x="3491880" y="6093296"/>
            <a:ext cx="2232248" cy="648072"/>
          </a:xfrm>
          <a:prstGeom prst="cube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b="1" i="1" dirty="0" err="1" smtClean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</a:rPr>
              <a:t>Multiple</a:t>
            </a:r>
            <a:r>
              <a:rPr lang="en-US" sz="1400" i="1" dirty="0" err="1" smtClean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rPr>
              <a:t>UiPagesService</a:t>
            </a:r>
            <a:endParaRPr lang="en-US" sz="1400" i="1" dirty="0" smtClean="0"/>
          </a:p>
          <a:p>
            <a:pPr algn="ctr"/>
            <a:r>
              <a:rPr lang="en-US" sz="1200" dirty="0" smtClean="0">
                <a:solidFill>
                  <a:schemeClr val="bg1"/>
                </a:solidFill>
              </a:rPr>
              <a:t>(Navigation Service</a:t>
            </a:r>
            <a:r>
              <a:rPr lang="en-US" sz="1000" dirty="0" smtClean="0">
                <a:solidFill>
                  <a:schemeClr val="bg1"/>
                </a:solidFill>
              </a:rPr>
              <a:t>)</a:t>
            </a:r>
            <a:endParaRPr lang="ru-RU" sz="1000" dirty="0" smtClean="0">
              <a:solidFill>
                <a:schemeClr val="bg1"/>
              </a:solidFill>
            </a:endParaRPr>
          </a:p>
        </p:txBody>
      </p:sp>
      <p:cxnSp>
        <p:nvCxnSpPr>
          <p:cNvPr id="72" name="Прямая со стрелкой 71"/>
          <p:cNvCxnSpPr/>
          <p:nvPr/>
        </p:nvCxnSpPr>
        <p:spPr>
          <a:xfrm>
            <a:off x="1115616" y="3068960"/>
            <a:ext cx="0" cy="36004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Прямая соединительная линия 73"/>
          <p:cNvCxnSpPr/>
          <p:nvPr/>
        </p:nvCxnSpPr>
        <p:spPr>
          <a:xfrm>
            <a:off x="1115616" y="3212976"/>
            <a:ext cx="453650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Прямая со стрелкой 75"/>
          <p:cNvCxnSpPr/>
          <p:nvPr/>
        </p:nvCxnSpPr>
        <p:spPr>
          <a:xfrm>
            <a:off x="3203848" y="3212976"/>
            <a:ext cx="0" cy="21602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Прямая со стрелкой 77"/>
          <p:cNvCxnSpPr/>
          <p:nvPr/>
        </p:nvCxnSpPr>
        <p:spPr>
          <a:xfrm>
            <a:off x="5652120" y="3212976"/>
            <a:ext cx="0" cy="21602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Прямая соединительная линия 79"/>
          <p:cNvCxnSpPr/>
          <p:nvPr/>
        </p:nvCxnSpPr>
        <p:spPr>
          <a:xfrm>
            <a:off x="4067944" y="980728"/>
            <a:ext cx="0" cy="50405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Прямая со стрелкой 82"/>
          <p:cNvCxnSpPr/>
          <p:nvPr/>
        </p:nvCxnSpPr>
        <p:spPr>
          <a:xfrm>
            <a:off x="3923928" y="1484784"/>
            <a:ext cx="1152128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Прямая со стрелкой 85"/>
          <p:cNvCxnSpPr/>
          <p:nvPr/>
        </p:nvCxnSpPr>
        <p:spPr>
          <a:xfrm flipH="1">
            <a:off x="3347864" y="1484784"/>
            <a:ext cx="576064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7" name="Левая фигурная скобка 86"/>
          <p:cNvSpPr/>
          <p:nvPr/>
        </p:nvSpPr>
        <p:spPr>
          <a:xfrm rot="16200000">
            <a:off x="4373978" y="4563126"/>
            <a:ext cx="504056" cy="2556284"/>
          </a:xfrm>
          <a:prstGeom prst="leftBrace">
            <a:avLst>
              <a:gd name="adj1" fmla="val 8333"/>
              <a:gd name="adj2" fmla="val 50298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89" name="Прямая со стрелкой 88"/>
          <p:cNvCxnSpPr/>
          <p:nvPr/>
        </p:nvCxnSpPr>
        <p:spPr>
          <a:xfrm>
            <a:off x="1043608" y="4365104"/>
            <a:ext cx="0" cy="57606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0" name="Вертикальный свиток 89"/>
          <p:cNvSpPr/>
          <p:nvPr/>
        </p:nvSpPr>
        <p:spPr>
          <a:xfrm>
            <a:off x="2339752" y="3501008"/>
            <a:ext cx="1872208" cy="864096"/>
          </a:xfrm>
          <a:prstGeom prst="verticalScroll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" b="1" dirty="0" err="1" smtClean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</a:rPr>
              <a:t>UiPage</a:t>
            </a:r>
            <a:r>
              <a:rPr lang="en-US" sz="1500" dirty="0" smtClean="0"/>
              <a:t/>
            </a:r>
            <a:br>
              <a:rPr lang="en-US" sz="1500" dirty="0" smtClean="0"/>
            </a:br>
            <a:r>
              <a:rPr lang="en-US" sz="1500" dirty="0" smtClean="0"/>
              <a:t>(Home Page)</a:t>
            </a:r>
            <a:endParaRPr lang="ru-RU" sz="1500" dirty="0"/>
          </a:p>
        </p:txBody>
      </p:sp>
      <p:sp>
        <p:nvSpPr>
          <p:cNvPr id="91" name="Вертикальный свиток 90"/>
          <p:cNvSpPr/>
          <p:nvPr/>
        </p:nvSpPr>
        <p:spPr>
          <a:xfrm>
            <a:off x="4499992" y="3501008"/>
            <a:ext cx="1872208" cy="864096"/>
          </a:xfrm>
          <a:prstGeom prst="verticalScroll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" b="1" dirty="0" err="1" smtClean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</a:rPr>
              <a:t>UiPage</a:t>
            </a:r>
            <a:r>
              <a:rPr lang="en-US" sz="1500" dirty="0" smtClean="0"/>
              <a:t/>
            </a:r>
            <a:br>
              <a:rPr lang="en-US" sz="1500" dirty="0" smtClean="0"/>
            </a:br>
            <a:r>
              <a:rPr lang="en-US" sz="1500" dirty="0" smtClean="0"/>
              <a:t>(Users Page)</a:t>
            </a:r>
            <a:endParaRPr lang="ru-RU" sz="1500" dirty="0"/>
          </a:p>
        </p:txBody>
      </p:sp>
      <p:cxnSp>
        <p:nvCxnSpPr>
          <p:cNvPr id="93" name="Прямая со стрелкой 92"/>
          <p:cNvCxnSpPr/>
          <p:nvPr/>
        </p:nvCxnSpPr>
        <p:spPr>
          <a:xfrm>
            <a:off x="3275856" y="4365104"/>
            <a:ext cx="0" cy="57606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Прямая со стрелкой 93"/>
          <p:cNvCxnSpPr/>
          <p:nvPr/>
        </p:nvCxnSpPr>
        <p:spPr>
          <a:xfrm>
            <a:off x="5508104" y="4365104"/>
            <a:ext cx="0" cy="57606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9" name="Пятиугольник 98"/>
          <p:cNvSpPr/>
          <p:nvPr/>
        </p:nvSpPr>
        <p:spPr>
          <a:xfrm>
            <a:off x="7308304" y="3429000"/>
            <a:ext cx="1656184" cy="432048"/>
          </a:xfrm>
          <a:prstGeom prst="homePlat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000" dirty="0" smtClean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</a:endParaRPr>
          </a:p>
          <a:p>
            <a:pPr algn="ctr"/>
            <a:endParaRPr lang="en-US" sz="1000" dirty="0" smtClean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</a:endParaRPr>
          </a:p>
          <a:p>
            <a:pPr algn="ctr"/>
            <a:r>
              <a:rPr lang="en-US" sz="1200" b="1" dirty="0" err="1" smtClean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</a:rPr>
              <a:t>UiElement</a:t>
            </a:r>
            <a:r>
              <a:rPr lang="en-US" sz="1100" dirty="0" smtClean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0070C0"/>
                </a:solidFill>
                <a:effectLst>
                  <a:glow rad="63500">
                    <a:schemeClr val="accent1">
                      <a:satMod val="175000"/>
                      <a:alpha val="40000"/>
                    </a:schemeClr>
                  </a:glow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rPr>
              <a:t> (Table)</a:t>
            </a:r>
            <a:endParaRPr lang="ru-RU" sz="1100" dirty="0" smtClean="0">
              <a:ln w="18415" cmpd="sng">
                <a:solidFill>
                  <a:srgbClr val="FFFFFF"/>
                </a:solidFill>
                <a:prstDash val="solid"/>
              </a:ln>
              <a:solidFill>
                <a:srgbClr val="0070C0"/>
              </a:solidFill>
              <a:effectLst>
                <a:glow rad="63500">
                  <a:schemeClr val="accent1">
                    <a:satMod val="175000"/>
                    <a:alpha val="40000"/>
                  </a:schemeClr>
                </a:glow>
                <a:outerShdw blurRad="63500" dir="3600000" algn="tl" rotWithShape="0">
                  <a:srgbClr val="000000">
                    <a:alpha val="70000"/>
                  </a:srgbClr>
                </a:outerShdw>
              </a:effectLst>
            </a:endParaRPr>
          </a:p>
          <a:p>
            <a:pPr algn="ctr"/>
            <a:endParaRPr lang="ru-RU" dirty="0"/>
          </a:p>
        </p:txBody>
      </p:sp>
      <p:sp>
        <p:nvSpPr>
          <p:cNvPr id="101" name="Пятиугольник 100"/>
          <p:cNvSpPr/>
          <p:nvPr/>
        </p:nvSpPr>
        <p:spPr>
          <a:xfrm>
            <a:off x="7308304" y="4077072"/>
            <a:ext cx="1728192" cy="432048"/>
          </a:xfrm>
          <a:prstGeom prst="homePlate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000" dirty="0" smtClean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</a:endParaRPr>
          </a:p>
          <a:p>
            <a:pPr algn="ctr"/>
            <a:endParaRPr lang="en-US" sz="1000" dirty="0" smtClean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</a:endParaRPr>
          </a:p>
          <a:p>
            <a:pPr algn="ctr"/>
            <a:r>
              <a:rPr lang="en-US" sz="1200" b="1" dirty="0" err="1" smtClean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</a:rPr>
              <a:t>UiElementsList</a:t>
            </a:r>
            <a:r>
              <a:rPr lang="en-US" sz="1100" b="1" dirty="0" smtClean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</a:rPr>
              <a:t> </a:t>
            </a:r>
            <a:r>
              <a:rPr lang="en-US" sz="1200" b="1" dirty="0" smtClean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</a:rPr>
              <a:t>&lt;</a:t>
            </a:r>
            <a:r>
              <a:rPr lang="en-US" sz="1100" dirty="0" smtClean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glow rad="63500">
                    <a:schemeClr val="accent1">
                      <a:satMod val="175000"/>
                      <a:alpha val="40000"/>
                    </a:schemeClr>
                  </a:glow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rPr>
              <a:t>Row</a:t>
            </a:r>
            <a:r>
              <a:rPr lang="en-US" sz="1200" b="1" dirty="0" smtClean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</a:rPr>
              <a:t>&gt;</a:t>
            </a:r>
            <a:endParaRPr lang="ru-RU" sz="1200" dirty="0" smtClean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glow rad="63500">
                  <a:schemeClr val="accent1">
                    <a:satMod val="175000"/>
                    <a:alpha val="40000"/>
                  </a:schemeClr>
                </a:glow>
                <a:outerShdw blurRad="63500" dir="3600000" algn="tl" rotWithShape="0">
                  <a:srgbClr val="000000">
                    <a:alpha val="70000"/>
                  </a:srgbClr>
                </a:outerShdw>
              </a:effectLst>
            </a:endParaRPr>
          </a:p>
          <a:p>
            <a:pPr algn="ctr"/>
            <a:endParaRPr lang="ru-RU" dirty="0"/>
          </a:p>
        </p:txBody>
      </p:sp>
      <p:cxnSp>
        <p:nvCxnSpPr>
          <p:cNvPr id="105" name="Прямая соединительная линия 104"/>
          <p:cNvCxnSpPr>
            <a:stCxn id="91" idx="3"/>
            <a:endCxn id="99" idx="1"/>
          </p:cNvCxnSpPr>
          <p:nvPr/>
        </p:nvCxnSpPr>
        <p:spPr>
          <a:xfrm flipV="1">
            <a:off x="6264188" y="3645024"/>
            <a:ext cx="1044116" cy="28803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Прямая соединительная линия 106"/>
          <p:cNvCxnSpPr>
            <a:stCxn id="91" idx="3"/>
            <a:endCxn id="101" idx="1"/>
          </p:cNvCxnSpPr>
          <p:nvPr/>
        </p:nvCxnSpPr>
        <p:spPr>
          <a:xfrm>
            <a:off x="6264188" y="3933056"/>
            <a:ext cx="1044116" cy="3600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5220072" y="0"/>
            <a:ext cx="4355976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500" b="1" dirty="0" smtClean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</a:rPr>
              <a:t>GENERAL ARCHITECTURE</a:t>
            </a:r>
            <a:endParaRPr lang="ru-RU" sz="2500" b="1" dirty="0">
              <a:ln w="10541" cmpd="sng">
                <a:solidFill>
                  <a:schemeClr val="accent1">
                    <a:shade val="88000"/>
                    <a:satMod val="110000"/>
                  </a:schemeClr>
                </a:solidFill>
                <a:prstDash val="solid"/>
              </a:ln>
              <a:gradFill>
                <a:gsLst>
                  <a:gs pos="0">
                    <a:schemeClr val="accent1">
                      <a:tint val="40000"/>
                      <a:satMod val="250000"/>
                    </a:schemeClr>
                  </a:gs>
                  <a:gs pos="9000">
                    <a:schemeClr val="accent1">
                      <a:tint val="52000"/>
                      <a:satMod val="300000"/>
                    </a:schemeClr>
                  </a:gs>
                  <a:gs pos="50000">
                    <a:schemeClr val="accent1">
                      <a:shade val="20000"/>
                      <a:satMod val="300000"/>
                    </a:schemeClr>
                  </a:gs>
                  <a:gs pos="79000">
                    <a:schemeClr val="accent1">
                      <a:tint val="52000"/>
                      <a:satMod val="300000"/>
                    </a:schemeClr>
                  </a:gs>
                  <a:gs pos="100000">
                    <a:schemeClr val="accent1">
                      <a:tint val="40000"/>
                      <a:satMod val="250000"/>
                    </a:schemeClr>
                  </a:gs>
                </a:gsLst>
                <a:lin ang="5400000"/>
              </a:gra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79512" y="116632"/>
            <a:ext cx="41764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</a:rPr>
              <a:t>PAGE FACTORY</a:t>
            </a:r>
            <a:endParaRPr lang="ru-RU" b="1" dirty="0">
              <a:ln w="10541" cmpd="sng">
                <a:solidFill>
                  <a:schemeClr val="accent1">
                    <a:shade val="88000"/>
                    <a:satMod val="110000"/>
                  </a:schemeClr>
                </a:solidFill>
                <a:prstDash val="solid"/>
              </a:ln>
              <a:gradFill>
                <a:gsLst>
                  <a:gs pos="0">
                    <a:schemeClr val="accent1">
                      <a:tint val="40000"/>
                      <a:satMod val="250000"/>
                    </a:schemeClr>
                  </a:gs>
                  <a:gs pos="9000">
                    <a:schemeClr val="accent1">
                      <a:tint val="52000"/>
                      <a:satMod val="300000"/>
                    </a:schemeClr>
                  </a:gs>
                  <a:gs pos="50000">
                    <a:schemeClr val="accent1">
                      <a:shade val="20000"/>
                      <a:satMod val="300000"/>
                    </a:schemeClr>
                  </a:gs>
                  <a:gs pos="79000">
                    <a:schemeClr val="accent1">
                      <a:tint val="52000"/>
                      <a:satMod val="300000"/>
                    </a:schemeClr>
                  </a:gs>
                  <a:gs pos="100000">
                    <a:schemeClr val="accent1">
                      <a:tint val="40000"/>
                      <a:satMod val="250000"/>
                    </a:schemeClr>
                  </a:gs>
                </a:gsLst>
                <a:lin ang="5400000"/>
              </a:gra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0" y="620688"/>
            <a:ext cx="41764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</a:rPr>
              <a:t>STATIC </a:t>
            </a:r>
            <a:r>
              <a:rPr lang="en-US" b="1" dirty="0" err="1" smtClean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</a:rPr>
              <a:t>UiElements</a:t>
            </a:r>
            <a:r>
              <a:rPr lang="en-US" b="1" dirty="0" smtClean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</a:rPr>
              <a:t> INSTANTIATION</a:t>
            </a:r>
            <a:endParaRPr lang="ru-RU" b="1" dirty="0">
              <a:ln w="10541" cmpd="sng">
                <a:solidFill>
                  <a:schemeClr val="accent1">
                    <a:shade val="88000"/>
                    <a:satMod val="110000"/>
                  </a:schemeClr>
                </a:solidFill>
                <a:prstDash val="solid"/>
              </a:ln>
              <a:gradFill>
                <a:gsLst>
                  <a:gs pos="0">
                    <a:schemeClr val="accent1">
                      <a:tint val="40000"/>
                      <a:satMod val="250000"/>
                    </a:schemeClr>
                  </a:gs>
                  <a:gs pos="9000">
                    <a:schemeClr val="accent1">
                      <a:tint val="52000"/>
                      <a:satMod val="300000"/>
                    </a:schemeClr>
                  </a:gs>
                  <a:gs pos="50000">
                    <a:schemeClr val="accent1">
                      <a:shade val="20000"/>
                      <a:satMod val="300000"/>
                    </a:schemeClr>
                  </a:gs>
                  <a:gs pos="79000">
                    <a:schemeClr val="accent1">
                      <a:tint val="52000"/>
                      <a:satMod val="300000"/>
                    </a:schemeClr>
                  </a:gs>
                  <a:gs pos="100000">
                    <a:schemeClr val="accent1">
                      <a:tint val="40000"/>
                      <a:satMod val="250000"/>
                    </a:schemeClr>
                  </a:gs>
                </a:gsLst>
                <a:lin ang="5400000"/>
              </a:gra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355976" y="620688"/>
            <a:ext cx="41764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</a:rPr>
              <a:t>MULTIPLE FIND ATTRIBUTES</a:t>
            </a:r>
            <a:endParaRPr lang="ru-RU" b="1" dirty="0">
              <a:ln w="10541" cmpd="sng">
                <a:solidFill>
                  <a:schemeClr val="accent1">
                    <a:shade val="88000"/>
                    <a:satMod val="110000"/>
                  </a:schemeClr>
                </a:solidFill>
                <a:prstDash val="solid"/>
              </a:ln>
              <a:gradFill>
                <a:gsLst>
                  <a:gs pos="0">
                    <a:schemeClr val="accent1">
                      <a:tint val="40000"/>
                      <a:satMod val="250000"/>
                    </a:schemeClr>
                  </a:gs>
                  <a:gs pos="9000">
                    <a:schemeClr val="accent1">
                      <a:tint val="52000"/>
                      <a:satMod val="300000"/>
                    </a:schemeClr>
                  </a:gs>
                  <a:gs pos="50000">
                    <a:schemeClr val="accent1">
                      <a:shade val="20000"/>
                      <a:satMod val="300000"/>
                    </a:schemeClr>
                  </a:gs>
                  <a:gs pos="79000">
                    <a:schemeClr val="accent1">
                      <a:tint val="52000"/>
                      <a:satMod val="300000"/>
                    </a:schemeClr>
                  </a:gs>
                  <a:gs pos="100000">
                    <a:schemeClr val="accent1">
                      <a:tint val="40000"/>
                      <a:satMod val="250000"/>
                    </a:schemeClr>
                  </a:gs>
                </a:gsLst>
                <a:lin ang="5400000"/>
              </a:gradFill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2996952"/>
            <a:ext cx="9036496" cy="26252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1124744"/>
            <a:ext cx="3659011" cy="14401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3851920" y="1124744"/>
            <a:ext cx="4997277" cy="12853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107504" y="188640"/>
            <a:ext cx="41764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</a:rPr>
              <a:t>DYNAMIC </a:t>
            </a:r>
            <a:r>
              <a:rPr lang="en-US" b="1" dirty="0" err="1" smtClean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</a:rPr>
              <a:t>UiElements</a:t>
            </a:r>
            <a:r>
              <a:rPr lang="en-US" b="1" dirty="0" smtClean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</a:rPr>
              <a:t> INSTANTIATION</a:t>
            </a:r>
            <a:endParaRPr lang="ru-RU" b="1" dirty="0">
              <a:ln w="10541" cmpd="sng">
                <a:solidFill>
                  <a:schemeClr val="accent1">
                    <a:shade val="88000"/>
                    <a:satMod val="110000"/>
                  </a:schemeClr>
                </a:solidFill>
                <a:prstDash val="solid"/>
              </a:ln>
              <a:gradFill>
                <a:gsLst>
                  <a:gs pos="0">
                    <a:schemeClr val="accent1">
                      <a:tint val="40000"/>
                      <a:satMod val="250000"/>
                    </a:schemeClr>
                  </a:gs>
                  <a:gs pos="9000">
                    <a:schemeClr val="accent1">
                      <a:tint val="52000"/>
                      <a:satMod val="300000"/>
                    </a:schemeClr>
                  </a:gs>
                  <a:gs pos="50000">
                    <a:schemeClr val="accent1">
                      <a:shade val="20000"/>
                      <a:satMod val="300000"/>
                    </a:schemeClr>
                  </a:gs>
                  <a:gs pos="79000">
                    <a:schemeClr val="accent1">
                      <a:tint val="52000"/>
                      <a:satMod val="300000"/>
                    </a:schemeClr>
                  </a:gs>
                  <a:gs pos="100000">
                    <a:schemeClr val="accent1">
                      <a:tint val="40000"/>
                      <a:satMod val="250000"/>
                    </a:schemeClr>
                  </a:gs>
                </a:gsLst>
                <a:lin ang="5400000"/>
              </a:gra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0" y="3068960"/>
            <a:ext cx="58681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</a:rPr>
              <a:t>FRAMES </a:t>
            </a:r>
            <a:r>
              <a:rPr lang="en-US" b="1" dirty="0" err="1" smtClean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</a:rPr>
              <a:t>UiElements</a:t>
            </a:r>
            <a:r>
              <a:rPr lang="en-US" b="1" dirty="0" smtClean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</a:rPr>
              <a:t> support </a:t>
            </a:r>
            <a:r>
              <a:rPr lang="en-US" b="1" dirty="0" smtClean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solidFill>
                  <a:srgbClr val="92D050"/>
                </a:solidFill>
              </a:rPr>
              <a:t>with AUTO SWITCHING</a:t>
            </a:r>
            <a:endParaRPr lang="ru-RU" b="1" dirty="0">
              <a:ln w="10541" cmpd="sng">
                <a:solidFill>
                  <a:schemeClr val="accent1">
                    <a:shade val="88000"/>
                    <a:satMod val="110000"/>
                  </a:schemeClr>
                </a:solidFill>
                <a:prstDash val="solid"/>
              </a:ln>
              <a:solidFill>
                <a:srgbClr val="92D050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07504" y="3501008"/>
            <a:ext cx="586814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 smtClean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</a:rPr>
              <a:t>Find Attribute with Frame Info</a:t>
            </a:r>
            <a:endParaRPr lang="ru-RU" sz="1200" b="1" dirty="0">
              <a:ln w="10541" cmpd="sng">
                <a:solidFill>
                  <a:schemeClr val="accent1">
                    <a:shade val="88000"/>
                    <a:satMod val="110000"/>
                  </a:schemeClr>
                </a:solidFill>
                <a:prstDash val="solid"/>
              </a:ln>
              <a:gradFill>
                <a:gsLst>
                  <a:gs pos="0">
                    <a:schemeClr val="accent1">
                      <a:tint val="40000"/>
                      <a:satMod val="250000"/>
                    </a:schemeClr>
                  </a:gs>
                  <a:gs pos="9000">
                    <a:schemeClr val="accent1">
                      <a:tint val="52000"/>
                      <a:satMod val="300000"/>
                    </a:schemeClr>
                  </a:gs>
                  <a:gs pos="50000">
                    <a:schemeClr val="accent1">
                      <a:shade val="20000"/>
                      <a:satMod val="300000"/>
                    </a:schemeClr>
                  </a:gs>
                  <a:gs pos="79000">
                    <a:schemeClr val="accent1">
                      <a:tint val="52000"/>
                      <a:satMod val="300000"/>
                    </a:schemeClr>
                  </a:gs>
                  <a:gs pos="100000">
                    <a:schemeClr val="accent1">
                      <a:tint val="40000"/>
                      <a:satMod val="250000"/>
                    </a:schemeClr>
                  </a:gs>
                </a:gsLst>
                <a:lin ang="5400000"/>
              </a:gradFill>
            </a:endParaRPr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07504" y="3861048"/>
            <a:ext cx="8712968" cy="46837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1" name="TextBox 10"/>
          <p:cNvSpPr txBox="1"/>
          <p:nvPr/>
        </p:nvSpPr>
        <p:spPr>
          <a:xfrm>
            <a:off x="179512" y="4437112"/>
            <a:ext cx="586814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 smtClean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</a:rPr>
              <a:t>Frame Attribute</a:t>
            </a:r>
            <a:endParaRPr lang="ru-RU" sz="1200" b="1" dirty="0">
              <a:ln w="10541" cmpd="sng">
                <a:solidFill>
                  <a:schemeClr val="accent1">
                    <a:shade val="88000"/>
                    <a:satMod val="110000"/>
                  </a:schemeClr>
                </a:solidFill>
                <a:prstDash val="solid"/>
              </a:ln>
              <a:gradFill>
                <a:gsLst>
                  <a:gs pos="0">
                    <a:schemeClr val="accent1">
                      <a:tint val="40000"/>
                      <a:satMod val="250000"/>
                    </a:schemeClr>
                  </a:gs>
                  <a:gs pos="9000">
                    <a:schemeClr val="accent1">
                      <a:tint val="52000"/>
                      <a:satMod val="300000"/>
                    </a:schemeClr>
                  </a:gs>
                  <a:gs pos="50000">
                    <a:schemeClr val="accent1">
                      <a:shade val="20000"/>
                      <a:satMod val="300000"/>
                    </a:schemeClr>
                  </a:gs>
                  <a:gs pos="79000">
                    <a:schemeClr val="accent1">
                      <a:tint val="52000"/>
                      <a:satMod val="300000"/>
                    </a:schemeClr>
                  </a:gs>
                  <a:gs pos="100000">
                    <a:schemeClr val="accent1">
                      <a:tint val="40000"/>
                      <a:satMod val="250000"/>
                    </a:schemeClr>
                  </a:gs>
                </a:gsLst>
                <a:lin ang="5400000"/>
              </a:gradFill>
            </a:endParaRPr>
          </a:p>
        </p:txBody>
      </p:sp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51520" y="4797152"/>
            <a:ext cx="3672408" cy="4695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053" name="Picture 5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0" y="692696"/>
            <a:ext cx="7568977" cy="22564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179512" y="116632"/>
            <a:ext cx="41764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</a:rPr>
              <a:t>SUPPORTED FIND METHODS</a:t>
            </a:r>
            <a:endParaRPr lang="ru-RU" b="1" dirty="0">
              <a:ln w="10541" cmpd="sng">
                <a:solidFill>
                  <a:schemeClr val="accent1">
                    <a:shade val="88000"/>
                    <a:satMod val="110000"/>
                  </a:schemeClr>
                </a:solidFill>
                <a:prstDash val="solid"/>
              </a:ln>
              <a:gradFill>
                <a:gsLst>
                  <a:gs pos="0">
                    <a:schemeClr val="accent1">
                      <a:tint val="40000"/>
                      <a:satMod val="250000"/>
                    </a:schemeClr>
                  </a:gs>
                  <a:gs pos="9000">
                    <a:schemeClr val="accent1">
                      <a:tint val="52000"/>
                      <a:satMod val="300000"/>
                    </a:schemeClr>
                  </a:gs>
                  <a:gs pos="50000">
                    <a:schemeClr val="accent1">
                      <a:shade val="20000"/>
                      <a:satMod val="300000"/>
                    </a:schemeClr>
                  </a:gs>
                  <a:gs pos="79000">
                    <a:schemeClr val="accent1">
                      <a:tint val="52000"/>
                      <a:satMod val="300000"/>
                    </a:schemeClr>
                  </a:gs>
                  <a:gs pos="100000">
                    <a:schemeClr val="accent1">
                      <a:tint val="40000"/>
                      <a:satMod val="250000"/>
                    </a:schemeClr>
                  </a:gs>
                </a:gsLst>
                <a:lin ang="5400000"/>
              </a:gradFill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06275" y="4077072"/>
            <a:ext cx="9037725" cy="6103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" name="TextBox 5"/>
          <p:cNvSpPr txBox="1"/>
          <p:nvPr/>
        </p:nvSpPr>
        <p:spPr>
          <a:xfrm>
            <a:off x="179512" y="3356992"/>
            <a:ext cx="41764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</a:rPr>
              <a:t>CUSTOM FIND METHODS</a:t>
            </a:r>
            <a:endParaRPr lang="ru-RU" b="1" dirty="0">
              <a:ln w="10541" cmpd="sng">
                <a:solidFill>
                  <a:schemeClr val="accent1">
                    <a:shade val="88000"/>
                    <a:satMod val="110000"/>
                  </a:schemeClr>
                </a:solidFill>
                <a:prstDash val="solid"/>
              </a:ln>
              <a:gradFill>
                <a:gsLst>
                  <a:gs pos="0">
                    <a:schemeClr val="accent1">
                      <a:tint val="40000"/>
                      <a:satMod val="250000"/>
                    </a:schemeClr>
                  </a:gs>
                  <a:gs pos="9000">
                    <a:schemeClr val="accent1">
                      <a:tint val="52000"/>
                      <a:satMod val="300000"/>
                    </a:schemeClr>
                  </a:gs>
                  <a:gs pos="50000">
                    <a:schemeClr val="accent1">
                      <a:shade val="20000"/>
                      <a:satMod val="300000"/>
                    </a:schemeClr>
                  </a:gs>
                  <a:gs pos="79000">
                    <a:schemeClr val="accent1">
                      <a:tint val="52000"/>
                      <a:satMod val="300000"/>
                    </a:schemeClr>
                  </a:gs>
                  <a:gs pos="100000">
                    <a:schemeClr val="accent1">
                      <a:tint val="40000"/>
                      <a:satMod val="250000"/>
                    </a:schemeClr>
                  </a:gs>
                </a:gsLst>
                <a:lin ang="5400000"/>
              </a:gradFill>
            </a:endParaRPr>
          </a:p>
        </p:txBody>
      </p:sp>
      <p:pic>
        <p:nvPicPr>
          <p:cNvPr id="2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79512" y="548681"/>
            <a:ext cx="3030438" cy="28083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3419872" y="620688"/>
            <a:ext cx="3145695" cy="26642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054" name="Picture 6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107504" y="3645024"/>
            <a:ext cx="8874646" cy="4583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2" name="TextBox 11"/>
          <p:cNvSpPr txBox="1"/>
          <p:nvPr/>
        </p:nvSpPr>
        <p:spPr>
          <a:xfrm>
            <a:off x="179512" y="4941168"/>
            <a:ext cx="41764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</a:rPr>
              <a:t>ADD BEHAVIOR</a:t>
            </a:r>
            <a:endParaRPr lang="ru-RU" b="1" dirty="0">
              <a:ln w="10541" cmpd="sng">
                <a:solidFill>
                  <a:schemeClr val="accent1">
                    <a:shade val="88000"/>
                    <a:satMod val="110000"/>
                  </a:schemeClr>
                </a:solidFill>
                <a:prstDash val="solid"/>
              </a:ln>
              <a:gradFill>
                <a:gsLst>
                  <a:gs pos="0">
                    <a:schemeClr val="accent1">
                      <a:tint val="40000"/>
                      <a:satMod val="250000"/>
                    </a:schemeClr>
                  </a:gs>
                  <a:gs pos="9000">
                    <a:schemeClr val="accent1">
                      <a:tint val="52000"/>
                      <a:satMod val="300000"/>
                    </a:schemeClr>
                  </a:gs>
                  <a:gs pos="50000">
                    <a:schemeClr val="accent1">
                      <a:shade val="20000"/>
                      <a:satMod val="300000"/>
                    </a:schemeClr>
                  </a:gs>
                  <a:gs pos="79000">
                    <a:schemeClr val="accent1">
                      <a:tint val="52000"/>
                      <a:satMod val="300000"/>
                    </a:schemeClr>
                  </a:gs>
                  <a:gs pos="100000">
                    <a:schemeClr val="accent1">
                      <a:tint val="40000"/>
                      <a:satMod val="250000"/>
                    </a:schemeClr>
                  </a:gs>
                </a:gsLst>
                <a:lin ang="5400000"/>
              </a:gradFill>
            </a:endParaRPr>
          </a:p>
        </p:txBody>
      </p:sp>
      <p:pic>
        <p:nvPicPr>
          <p:cNvPr id="2055" name="Picture 7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2411760" y="4869160"/>
            <a:ext cx="6429810" cy="792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056" name="Picture 8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251520" y="5649654"/>
            <a:ext cx="6390903" cy="12083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0" y="980728"/>
            <a:ext cx="9393347" cy="2400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000" b="1" dirty="0" smtClean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</a:rPr>
              <a:t>ADVANCED </a:t>
            </a:r>
          </a:p>
          <a:p>
            <a:pPr algn="ctr"/>
            <a:r>
              <a:rPr lang="en-US" sz="5000" b="1" dirty="0" smtClean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</a:rPr>
              <a:t>PARAMETERIZED LOGGING </a:t>
            </a:r>
          </a:p>
          <a:p>
            <a:pPr algn="ctr"/>
            <a:r>
              <a:rPr lang="en-US" sz="5000" b="1" dirty="0" smtClean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solidFill>
                  <a:srgbClr val="005B0C"/>
                </a:solidFill>
              </a:rPr>
              <a:t>NUNIT ADDIN</a:t>
            </a:r>
            <a:endParaRPr lang="ru-RU" sz="5000" b="1" dirty="0">
              <a:ln w="10541" cmpd="sng">
                <a:solidFill>
                  <a:schemeClr val="accent1">
                    <a:shade val="88000"/>
                    <a:satMod val="110000"/>
                  </a:schemeClr>
                </a:solidFill>
                <a:prstDash val="solid"/>
              </a:ln>
              <a:solidFill>
                <a:srgbClr val="005B0C"/>
              </a:solidFill>
            </a:endParaRPr>
          </a:p>
        </p:txBody>
      </p:sp>
      <p:pic>
        <p:nvPicPr>
          <p:cNvPr id="3077" name="Picture 5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259632" y="3258700"/>
            <a:ext cx="7615287" cy="34649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-2786063" y="-1160463"/>
            <a:ext cx="14717713" cy="84407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07504" y="908720"/>
            <a:ext cx="8901242" cy="53285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TextBox 4"/>
          <p:cNvSpPr txBox="1"/>
          <p:nvPr/>
        </p:nvSpPr>
        <p:spPr>
          <a:xfrm>
            <a:off x="107504" y="260648"/>
            <a:ext cx="48245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</a:rPr>
              <a:t>SELECT ALL PAGES TESTED (in particular RUN)</a:t>
            </a:r>
            <a:endParaRPr lang="ru-RU" b="1" dirty="0">
              <a:ln w="10541" cmpd="sng">
                <a:solidFill>
                  <a:schemeClr val="accent1">
                    <a:shade val="88000"/>
                    <a:satMod val="110000"/>
                  </a:schemeClr>
                </a:solidFill>
                <a:prstDash val="solid"/>
              </a:ln>
              <a:gradFill>
                <a:gsLst>
                  <a:gs pos="0">
                    <a:schemeClr val="accent1">
                      <a:tint val="40000"/>
                      <a:satMod val="250000"/>
                    </a:schemeClr>
                  </a:gs>
                  <a:gs pos="9000">
                    <a:schemeClr val="accent1">
                      <a:tint val="52000"/>
                      <a:satMod val="300000"/>
                    </a:schemeClr>
                  </a:gs>
                  <a:gs pos="50000">
                    <a:schemeClr val="accent1">
                      <a:shade val="20000"/>
                      <a:satMod val="300000"/>
                    </a:schemeClr>
                  </a:gs>
                  <a:gs pos="79000">
                    <a:schemeClr val="accent1">
                      <a:tint val="52000"/>
                      <a:satMod val="300000"/>
                    </a:schemeClr>
                  </a:gs>
                  <a:gs pos="100000">
                    <a:schemeClr val="accent1">
                      <a:tint val="40000"/>
                      <a:satMod val="250000"/>
                    </a:schemeClr>
                  </a:gs>
                </a:gsLst>
                <a:lin ang="5400000"/>
              </a:gra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107504" y="260648"/>
            <a:ext cx="57606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</a:rPr>
              <a:t>SELECT ALL COMPONENTS TESTED (on particular PAGE)</a:t>
            </a:r>
            <a:endParaRPr lang="ru-RU" b="1" dirty="0">
              <a:ln w="10541" cmpd="sng">
                <a:solidFill>
                  <a:schemeClr val="accent1">
                    <a:shade val="88000"/>
                    <a:satMod val="110000"/>
                  </a:schemeClr>
                </a:solidFill>
                <a:prstDash val="solid"/>
              </a:ln>
              <a:gradFill>
                <a:gsLst>
                  <a:gs pos="0">
                    <a:schemeClr val="accent1">
                      <a:tint val="40000"/>
                      <a:satMod val="250000"/>
                    </a:schemeClr>
                  </a:gs>
                  <a:gs pos="9000">
                    <a:schemeClr val="accent1">
                      <a:tint val="52000"/>
                      <a:satMod val="300000"/>
                    </a:schemeClr>
                  </a:gs>
                  <a:gs pos="50000">
                    <a:schemeClr val="accent1">
                      <a:shade val="20000"/>
                      <a:satMod val="300000"/>
                    </a:schemeClr>
                  </a:gs>
                  <a:gs pos="79000">
                    <a:schemeClr val="accent1">
                      <a:tint val="52000"/>
                      <a:satMod val="300000"/>
                    </a:schemeClr>
                  </a:gs>
                  <a:gs pos="100000">
                    <a:schemeClr val="accent1">
                      <a:tint val="40000"/>
                      <a:satMod val="250000"/>
                    </a:schemeClr>
                  </a:gs>
                </a:gsLst>
                <a:lin ang="5400000"/>
              </a:gradFill>
            </a:endParaRPr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79512" y="764704"/>
            <a:ext cx="8779287" cy="5347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107504" y="260648"/>
            <a:ext cx="57606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</a:rPr>
              <a:t>SELECT ALL TESTS which test particular PAGE</a:t>
            </a:r>
            <a:endParaRPr lang="ru-RU" b="1" dirty="0">
              <a:ln w="10541" cmpd="sng">
                <a:solidFill>
                  <a:schemeClr val="accent1">
                    <a:shade val="88000"/>
                    <a:satMod val="110000"/>
                  </a:schemeClr>
                </a:solidFill>
                <a:prstDash val="solid"/>
              </a:ln>
              <a:gradFill>
                <a:gsLst>
                  <a:gs pos="0">
                    <a:schemeClr val="accent1">
                      <a:tint val="40000"/>
                      <a:satMod val="250000"/>
                    </a:schemeClr>
                  </a:gs>
                  <a:gs pos="9000">
                    <a:schemeClr val="accent1">
                      <a:tint val="52000"/>
                      <a:satMod val="300000"/>
                    </a:schemeClr>
                  </a:gs>
                  <a:gs pos="50000">
                    <a:schemeClr val="accent1">
                      <a:shade val="20000"/>
                      <a:satMod val="300000"/>
                    </a:schemeClr>
                  </a:gs>
                  <a:gs pos="79000">
                    <a:schemeClr val="accent1">
                      <a:tint val="52000"/>
                      <a:satMod val="300000"/>
                    </a:schemeClr>
                  </a:gs>
                  <a:gs pos="100000">
                    <a:schemeClr val="accent1">
                      <a:tint val="40000"/>
                      <a:satMod val="250000"/>
                    </a:schemeClr>
                  </a:gs>
                </a:gsLst>
                <a:lin ang="5400000"/>
              </a:gradFill>
            </a:endParaRPr>
          </a:p>
        </p:txBody>
      </p:sp>
      <p:pic>
        <p:nvPicPr>
          <p:cNvPr id="6148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79512" y="620688"/>
            <a:ext cx="8568952" cy="60489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107504" y="260648"/>
            <a:ext cx="77048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</a:rPr>
              <a:t>SELECT ALL TESTS that test particular COMPONENT (on particular PAGE)</a:t>
            </a:r>
            <a:endParaRPr lang="ru-RU" b="1" dirty="0">
              <a:ln w="10541" cmpd="sng">
                <a:solidFill>
                  <a:schemeClr val="accent1">
                    <a:shade val="88000"/>
                    <a:satMod val="110000"/>
                  </a:schemeClr>
                </a:solidFill>
                <a:prstDash val="solid"/>
              </a:ln>
              <a:gradFill>
                <a:gsLst>
                  <a:gs pos="0">
                    <a:schemeClr val="accent1">
                      <a:tint val="40000"/>
                      <a:satMod val="250000"/>
                    </a:schemeClr>
                  </a:gs>
                  <a:gs pos="9000">
                    <a:schemeClr val="accent1">
                      <a:tint val="52000"/>
                      <a:satMod val="300000"/>
                    </a:schemeClr>
                  </a:gs>
                  <a:gs pos="50000">
                    <a:schemeClr val="accent1">
                      <a:shade val="20000"/>
                      <a:satMod val="300000"/>
                    </a:schemeClr>
                  </a:gs>
                  <a:gs pos="79000">
                    <a:schemeClr val="accent1">
                      <a:tint val="52000"/>
                      <a:satMod val="300000"/>
                    </a:schemeClr>
                  </a:gs>
                  <a:gs pos="100000">
                    <a:schemeClr val="accent1">
                      <a:tint val="40000"/>
                      <a:satMod val="250000"/>
                    </a:schemeClr>
                  </a:gs>
                </a:gsLst>
                <a:lin ang="5400000"/>
              </a:gradFill>
            </a:endParaRPr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79512" y="692696"/>
            <a:ext cx="8820472" cy="319139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" name="TextBox 5"/>
          <p:cNvSpPr txBox="1"/>
          <p:nvPr/>
        </p:nvSpPr>
        <p:spPr>
          <a:xfrm>
            <a:off x="179512" y="4077072"/>
            <a:ext cx="8856984" cy="23544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</a:rPr>
              <a:t>AND MANY OTHER QUERIES: </a:t>
            </a:r>
          </a:p>
          <a:p>
            <a:endParaRPr lang="en-US" b="1" dirty="0" smtClean="0">
              <a:ln w="10541" cmpd="sng">
                <a:solidFill>
                  <a:schemeClr val="accent1">
                    <a:shade val="88000"/>
                    <a:satMod val="110000"/>
                  </a:schemeClr>
                </a:solidFill>
                <a:prstDash val="solid"/>
              </a:ln>
              <a:gradFill>
                <a:gsLst>
                  <a:gs pos="0">
                    <a:schemeClr val="accent1">
                      <a:tint val="40000"/>
                      <a:satMod val="250000"/>
                    </a:schemeClr>
                  </a:gs>
                  <a:gs pos="9000">
                    <a:schemeClr val="accent1">
                      <a:tint val="52000"/>
                      <a:satMod val="300000"/>
                    </a:schemeClr>
                  </a:gs>
                  <a:gs pos="50000">
                    <a:schemeClr val="accent1">
                      <a:shade val="20000"/>
                      <a:satMod val="300000"/>
                    </a:schemeClr>
                  </a:gs>
                  <a:gs pos="79000">
                    <a:schemeClr val="accent1">
                      <a:tint val="52000"/>
                      <a:satMod val="300000"/>
                    </a:schemeClr>
                  </a:gs>
                  <a:gs pos="100000">
                    <a:schemeClr val="accent1">
                      <a:tint val="40000"/>
                      <a:satMod val="250000"/>
                    </a:schemeClr>
                  </a:gs>
                </a:gsLst>
                <a:lin ang="5400000"/>
              </a:gradFill>
            </a:endParaRPr>
          </a:p>
          <a:p>
            <a:pPr>
              <a:buFontTx/>
              <a:buChar char="-"/>
            </a:pPr>
            <a:r>
              <a:rPr lang="en-US" sz="1500" b="1" dirty="0" smtClean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</a:rPr>
              <a:t> SELECT TESTS BY CATEGORIES</a:t>
            </a:r>
          </a:p>
          <a:p>
            <a:pPr>
              <a:buFontTx/>
              <a:buChar char="-"/>
            </a:pPr>
            <a:r>
              <a:rPr lang="en-US" sz="1500" b="1" dirty="0" smtClean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</a:rPr>
              <a:t> SELECT PASSED/FAILED TESTS</a:t>
            </a:r>
          </a:p>
          <a:p>
            <a:pPr>
              <a:buFontTx/>
              <a:buChar char="-"/>
            </a:pPr>
            <a:r>
              <a:rPr lang="en-US" sz="1500" b="1" dirty="0" smtClean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</a:rPr>
              <a:t> etc.</a:t>
            </a:r>
          </a:p>
          <a:p>
            <a:pPr>
              <a:buFontTx/>
              <a:buChar char="-"/>
            </a:pPr>
            <a:endParaRPr lang="en-US" b="1" dirty="0" smtClean="0">
              <a:ln w="10541" cmpd="sng">
                <a:solidFill>
                  <a:schemeClr val="accent1">
                    <a:shade val="88000"/>
                    <a:satMod val="110000"/>
                  </a:schemeClr>
                </a:solidFill>
                <a:prstDash val="solid"/>
              </a:ln>
              <a:gradFill>
                <a:gsLst>
                  <a:gs pos="0">
                    <a:schemeClr val="accent1">
                      <a:tint val="40000"/>
                      <a:satMod val="250000"/>
                    </a:schemeClr>
                  </a:gs>
                  <a:gs pos="9000">
                    <a:schemeClr val="accent1">
                      <a:tint val="52000"/>
                      <a:satMod val="300000"/>
                    </a:schemeClr>
                  </a:gs>
                  <a:gs pos="50000">
                    <a:schemeClr val="accent1">
                      <a:shade val="20000"/>
                      <a:satMod val="300000"/>
                    </a:schemeClr>
                  </a:gs>
                  <a:gs pos="79000">
                    <a:schemeClr val="accent1">
                      <a:tint val="52000"/>
                      <a:satMod val="300000"/>
                    </a:schemeClr>
                  </a:gs>
                  <a:gs pos="100000">
                    <a:schemeClr val="accent1">
                      <a:tint val="40000"/>
                      <a:satMod val="250000"/>
                    </a:schemeClr>
                  </a:gs>
                </a:gsLst>
                <a:lin ang="5400000"/>
              </a:gradFill>
            </a:endParaRPr>
          </a:p>
          <a:p>
            <a:r>
              <a:rPr lang="en-US" b="1" dirty="0" smtClean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solidFill>
                  <a:srgbClr val="92D050"/>
                </a:solidFill>
              </a:rPr>
              <a:t>USAGE AREAS:</a:t>
            </a:r>
          </a:p>
          <a:p>
            <a:r>
              <a:rPr lang="en-US" sz="1500" b="1" dirty="0" smtClean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</a:rPr>
              <a:t>- Build </a:t>
            </a:r>
            <a:r>
              <a:rPr lang="en-US" sz="1500" b="1" dirty="0" smtClean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solidFill>
                  <a:srgbClr val="92D050"/>
                </a:solidFill>
              </a:rPr>
              <a:t>DASHBOARDS</a:t>
            </a:r>
            <a:r>
              <a:rPr lang="en-US" sz="1500" b="1" dirty="0" smtClean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</a:rPr>
              <a:t> with Regression Testing Results</a:t>
            </a:r>
          </a:p>
          <a:p>
            <a:r>
              <a:rPr lang="en-US" sz="1500" b="1" dirty="0" smtClean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</a:rPr>
              <a:t>- Find any other specific information about </a:t>
            </a:r>
            <a:r>
              <a:rPr lang="en-US" sz="1500" b="1" dirty="0" smtClean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</a:rPr>
              <a:t>what happens during testing</a:t>
            </a:r>
            <a:endParaRPr lang="ru-RU" sz="1500" b="1" dirty="0">
              <a:ln w="10541" cmpd="sng">
                <a:solidFill>
                  <a:schemeClr val="accent1">
                    <a:shade val="88000"/>
                    <a:satMod val="110000"/>
                  </a:schemeClr>
                </a:solidFill>
                <a:prstDash val="solid"/>
              </a:ln>
              <a:gradFill>
                <a:gsLst>
                  <a:gs pos="0">
                    <a:schemeClr val="accent1">
                      <a:tint val="40000"/>
                      <a:satMod val="250000"/>
                    </a:schemeClr>
                  </a:gs>
                  <a:gs pos="9000">
                    <a:schemeClr val="accent1">
                      <a:tint val="52000"/>
                      <a:satMod val="300000"/>
                    </a:schemeClr>
                  </a:gs>
                  <a:gs pos="50000">
                    <a:schemeClr val="accent1">
                      <a:shade val="20000"/>
                      <a:satMod val="300000"/>
                    </a:schemeClr>
                  </a:gs>
                  <a:gs pos="79000">
                    <a:schemeClr val="accent1">
                      <a:tint val="52000"/>
                      <a:satMod val="300000"/>
                    </a:schemeClr>
                  </a:gs>
                  <a:gs pos="100000">
                    <a:schemeClr val="accent1">
                      <a:tint val="40000"/>
                      <a:satMod val="250000"/>
                    </a:schemeClr>
                  </a:gs>
                </a:gsLst>
                <a:lin ang="5400000"/>
              </a:gra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474</TotalTime>
  <Words>185</Words>
  <Application>Microsoft Office PowerPoint</Application>
  <PresentationFormat>Экран (4:3)</PresentationFormat>
  <Paragraphs>63</Paragraphs>
  <Slides>12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12</vt:i4>
      </vt:variant>
    </vt:vector>
  </HeadingPairs>
  <TitlesOfParts>
    <vt:vector size="13" baseType="lpstr">
      <vt:lpstr>Тема Office</vt:lpstr>
      <vt:lpstr>Слайд 1</vt:lpstr>
      <vt:lpstr>Слайд 2</vt:lpstr>
      <vt:lpstr>Слайд 3</vt:lpstr>
      <vt:lpstr>Слайд 4</vt:lpstr>
      <vt:lpstr>Слайд 5</vt:lpstr>
      <vt:lpstr>Слайд 6</vt:lpstr>
      <vt:lpstr>Слайд 7</vt:lpstr>
      <vt:lpstr>Слайд 8</vt:lpstr>
      <vt:lpstr>Слайд 9</vt:lpstr>
      <vt:lpstr>Слайд 10</vt:lpstr>
      <vt:lpstr>Слайд 11</vt:lpstr>
      <vt:lpstr>Слайд 12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Слайд 1</dc:title>
  <dc:creator>AdminT</dc:creator>
  <cp:lastModifiedBy>AdminT</cp:lastModifiedBy>
  <cp:revision>95</cp:revision>
  <dcterms:created xsi:type="dcterms:W3CDTF">2025-01-26T10:32:26Z</dcterms:created>
  <dcterms:modified xsi:type="dcterms:W3CDTF">2025-02-01T11:50:59Z</dcterms:modified>
</cp:coreProperties>
</file>